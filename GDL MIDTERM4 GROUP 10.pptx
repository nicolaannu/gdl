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_rels/notesSlide1.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_rels/slide1.xml.rels" ContentType="application/vnd.openxmlformats-package.relationships+xml"/>
  <Override PartName="/ppt/slides/slide1.xml" ContentType="application/vnd.openxmlformats-officedocument.presentationml.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jpeg" ContentType="image/jpeg"/>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30275213" cy="42803763"/>
  <p:notesSz cx="42803763" cy="302752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it-IT" sz="4400" spc="-1" strike="noStrike">
                <a:solidFill>
                  <a:srgbClr val="000000"/>
                </a:solidFill>
                <a:latin typeface="Arial"/>
              </a:rPr>
              <a:t>Fai clic per spostare la diapositiva</a:t>
            </a:r>
            <a:endParaRPr b="0" lang="it-IT" sz="4400" spc="-1" strike="noStrike">
              <a:solidFill>
                <a:srgbClr val="000000"/>
              </a:solidFill>
              <a:latin typeface="Arial"/>
            </a:endParaRPr>
          </a:p>
        </p:txBody>
      </p:sp>
      <p:sp>
        <p:nvSpPr>
          <p:cNvPr id="3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it-IT" sz="2000" spc="-1" strike="noStrike">
                <a:solidFill>
                  <a:srgbClr val="000000"/>
                </a:solidFill>
                <a:latin typeface="Arial"/>
              </a:rPr>
              <a:t>Fai clic per modificare il formato delle note</a:t>
            </a:r>
            <a:endParaRPr b="0" lang="it-IT" sz="2000" spc="-1" strike="noStrike">
              <a:solidFill>
                <a:srgbClr val="000000"/>
              </a:solidFill>
              <a:latin typeface="Arial"/>
            </a:endParaRPr>
          </a:p>
        </p:txBody>
      </p:sp>
      <p:sp>
        <p:nvSpPr>
          <p:cNvPr id="3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it-IT" sz="1400" spc="-1" strike="noStrike">
                <a:solidFill>
                  <a:srgbClr val="000000"/>
                </a:solidFill>
                <a:latin typeface="Times New Roman"/>
              </a:rPr>
              <a:t>&lt;intestazione&gt;</a:t>
            </a:r>
            <a:endParaRPr b="0" lang="it-IT" sz="1400" spc="-1" strike="noStrike">
              <a:solidFill>
                <a:srgbClr val="000000"/>
              </a:solidFill>
              <a:latin typeface="Times New Roman"/>
            </a:endParaRPr>
          </a:p>
        </p:txBody>
      </p:sp>
      <p:sp>
        <p:nvSpPr>
          <p:cNvPr id="3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it-IT" sz="1400" spc="-1" strike="noStrike">
                <a:solidFill>
                  <a:srgbClr val="000000"/>
                </a:solidFill>
                <a:latin typeface="Times New Roman"/>
              </a:defRPr>
            </a:lvl1pPr>
          </a:lstStyle>
          <a:p>
            <a:pPr indent="0" algn="r">
              <a:buNone/>
            </a:pPr>
            <a:r>
              <a:rPr b="0" lang="it-IT" sz="1400" spc="-1" strike="noStrike">
                <a:solidFill>
                  <a:srgbClr val="000000"/>
                </a:solidFill>
                <a:latin typeface="Times New Roman"/>
              </a:rPr>
              <a:t>&lt;data/ora&gt;</a:t>
            </a:r>
            <a:endParaRPr b="0" lang="it-IT" sz="1400" spc="-1" strike="noStrike">
              <a:solidFill>
                <a:srgbClr val="000000"/>
              </a:solidFill>
              <a:latin typeface="Times New Roman"/>
            </a:endParaRPr>
          </a:p>
        </p:txBody>
      </p:sp>
      <p:sp>
        <p:nvSpPr>
          <p:cNvPr id="4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it-IT" sz="1400" spc="-1" strike="noStrike">
                <a:solidFill>
                  <a:srgbClr val="000000"/>
                </a:solidFill>
                <a:latin typeface="Times New Roman"/>
              </a:defRPr>
            </a:lvl1pPr>
          </a:lstStyle>
          <a:p>
            <a:pPr indent="0">
              <a:buNone/>
            </a:pPr>
            <a:r>
              <a:rPr b="0" lang="it-IT" sz="1400" spc="-1" strike="noStrike">
                <a:solidFill>
                  <a:srgbClr val="000000"/>
                </a:solidFill>
                <a:latin typeface="Times New Roman"/>
              </a:rPr>
              <a:t>&lt;piè di pagina&gt;</a:t>
            </a:r>
            <a:endParaRPr b="0" lang="it-IT" sz="1400" spc="-1" strike="noStrike">
              <a:solidFill>
                <a:srgbClr val="000000"/>
              </a:solidFill>
              <a:latin typeface="Times New Roman"/>
            </a:endParaRPr>
          </a:p>
        </p:txBody>
      </p:sp>
      <p:sp>
        <p:nvSpPr>
          <p:cNvPr id="4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it-IT" sz="1400" spc="-1" strike="noStrike">
                <a:solidFill>
                  <a:srgbClr val="000000"/>
                </a:solidFill>
                <a:latin typeface="Times New Roman"/>
              </a:defRPr>
            </a:lvl1pPr>
          </a:lstStyle>
          <a:p>
            <a:pPr indent="0" algn="r">
              <a:buNone/>
            </a:pPr>
            <a:fld id="{F621DA25-A8DA-480E-8727-4C3CFCD51AE5}" type="slidenum">
              <a:rPr b="0" lang="it-IT" sz="1400" spc="-1" strike="noStrike">
                <a:solidFill>
                  <a:srgbClr val="000000"/>
                </a:solidFill>
                <a:latin typeface="Times New Roman"/>
              </a:rPr>
              <a:t>&lt;numero&gt;</a:t>
            </a:fld>
            <a:endParaRPr b="0" lang="it-IT"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0" y="0"/>
            <a:ext cx="0" cy="0"/>
          </a:xfrm>
          <a:prstGeom prst="rect">
            <a:avLst/>
          </a:prstGeom>
          <a:ln w="0">
            <a:noFill/>
          </a:ln>
        </p:spPr>
      </p:sp>
      <p:sp>
        <p:nvSpPr>
          <p:cNvPr id="8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buNone/>
            </a:pPr>
            <a:endParaRPr b="0" lang="it-IT" sz="1800" spc="-1" strike="noStrike">
              <a:solidFill>
                <a:srgbClr val="000000"/>
              </a:solidFill>
              <a:latin typeface="Arial"/>
            </a:endParaRPr>
          </a:p>
        </p:txBody>
      </p:sp>
      <p:sp>
        <p:nvSpPr>
          <p:cNvPr id="89"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algn="r">
              <a:lnSpc>
                <a:spcPct val="100000"/>
              </a:lnSpc>
              <a:buNone/>
              <a:tabLst>
                <a:tab algn="l" pos="0"/>
              </a:tabLst>
              <a:defRPr b="0" lang="en-US" sz="1800" spc="-1" strike="noStrike">
                <a:solidFill>
                  <a:srgbClr val="000000"/>
                </a:solidFill>
                <a:latin typeface="+mn-lt"/>
                <a:ea typeface="+mn-ea"/>
              </a:defRPr>
            </a:lvl1pPr>
          </a:lstStyle>
          <a:p>
            <a:pPr indent="0" algn="r">
              <a:lnSpc>
                <a:spcPct val="100000"/>
              </a:lnSpc>
              <a:buNone/>
              <a:tabLst>
                <a:tab algn="l" pos="0"/>
              </a:tabLst>
            </a:pPr>
            <a:fld id="{F0599E40-E58E-4C26-8037-61695ED9C5D2}" type="slidenum">
              <a:rPr b="0" lang="en-US" sz="1800" spc="-1" strike="noStrike">
                <a:solidFill>
                  <a:srgbClr val="000000"/>
                </a:solidFill>
                <a:latin typeface="+mn-lt"/>
                <a:ea typeface="+mn-ea"/>
              </a:rPr>
              <a:t>&lt;numero&gt;</a:t>
            </a:fld>
            <a:endParaRPr b="0" lang="it-IT"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0"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1" name="PlaceHolder 2"/>
          <p:cNvSpPr>
            <a:spLocks noGrp="1"/>
          </p:cNvSpPr>
          <p:nvPr>
            <p:ph type="subTitle"/>
          </p:nvPr>
        </p:nvSpPr>
        <p:spPr>
          <a:xfrm>
            <a:off x="1513440" y="10015920"/>
            <a:ext cx="27247320" cy="24825600"/>
          </a:xfrm>
          <a:prstGeom prst="rect">
            <a:avLst/>
          </a:prstGeom>
          <a:noFill/>
          <a:ln w="0">
            <a:noFill/>
          </a:ln>
        </p:spPr>
        <p:txBody>
          <a:bodyPr lIns="0" rIns="0" tIns="0" bIns="0" anchor="ctr">
            <a:noAutofit/>
          </a:bodyPr>
          <a:p>
            <a:pPr indent="0" algn="ctr">
              <a:buNone/>
            </a:pPr>
            <a:endParaRPr b="0" lang="it-IT"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3" name="PlaceHolder 2"/>
          <p:cNvSpPr>
            <a:spLocks noGrp="1"/>
          </p:cNvSpPr>
          <p:nvPr>
            <p:ph/>
          </p:nvPr>
        </p:nvSpPr>
        <p:spPr>
          <a:xfrm>
            <a:off x="1513440" y="10015920"/>
            <a:ext cx="27247320" cy="2482560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5" name="PlaceHolder 2"/>
          <p:cNvSpPr>
            <a:spLocks noGrp="1"/>
          </p:cNvSpPr>
          <p:nvPr>
            <p:ph/>
          </p:nvPr>
        </p:nvSpPr>
        <p:spPr>
          <a:xfrm>
            <a:off x="1513440" y="10015920"/>
            <a:ext cx="13296600" cy="2482560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6" name="PlaceHolder 3"/>
          <p:cNvSpPr>
            <a:spLocks noGrp="1"/>
          </p:cNvSpPr>
          <p:nvPr>
            <p:ph/>
          </p:nvPr>
        </p:nvSpPr>
        <p:spPr>
          <a:xfrm>
            <a:off x="15475320" y="10015920"/>
            <a:ext cx="13296600" cy="2482560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 name="PlaceHolder 1"/>
          <p:cNvSpPr>
            <a:spLocks noGrp="1"/>
          </p:cNvSpPr>
          <p:nvPr>
            <p:ph type="subTitle"/>
          </p:nvPr>
        </p:nvSpPr>
        <p:spPr>
          <a:xfrm>
            <a:off x="1513440" y="1707840"/>
            <a:ext cx="27247320" cy="33134400"/>
          </a:xfrm>
          <a:prstGeom prst="rect">
            <a:avLst/>
          </a:prstGeom>
          <a:noFill/>
          <a:ln w="0">
            <a:noFill/>
          </a:ln>
        </p:spPr>
        <p:txBody>
          <a:bodyPr lIns="0" rIns="0" tIns="0" bIns="0" anchor="ctr">
            <a:noAutofit/>
          </a:bodyPr>
          <a:p>
            <a:pPr algn="ctr"/>
            <a:endParaRPr b="0" lang="it-IT"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10" name="PlaceHolder 2"/>
          <p:cNvSpPr>
            <a:spLocks noGrp="1"/>
          </p:cNvSpPr>
          <p:nvPr>
            <p:ph/>
          </p:nvPr>
        </p:nvSpPr>
        <p:spPr>
          <a:xfrm>
            <a:off x="151344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11" name="PlaceHolder 3"/>
          <p:cNvSpPr>
            <a:spLocks noGrp="1"/>
          </p:cNvSpPr>
          <p:nvPr>
            <p:ph/>
          </p:nvPr>
        </p:nvSpPr>
        <p:spPr>
          <a:xfrm>
            <a:off x="15475320" y="10015920"/>
            <a:ext cx="13296600" cy="2482560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12" name="PlaceHolder 4"/>
          <p:cNvSpPr>
            <a:spLocks noGrp="1"/>
          </p:cNvSpPr>
          <p:nvPr>
            <p:ph/>
          </p:nvPr>
        </p:nvSpPr>
        <p:spPr>
          <a:xfrm>
            <a:off x="1513440" y="2298276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14" name="PlaceHolder 2"/>
          <p:cNvSpPr>
            <a:spLocks noGrp="1"/>
          </p:cNvSpPr>
          <p:nvPr>
            <p:ph/>
          </p:nvPr>
        </p:nvSpPr>
        <p:spPr>
          <a:xfrm>
            <a:off x="1513440" y="10015920"/>
            <a:ext cx="13296600" cy="2482560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15" name="PlaceHolder 3"/>
          <p:cNvSpPr>
            <a:spLocks noGrp="1"/>
          </p:cNvSpPr>
          <p:nvPr>
            <p:ph/>
          </p:nvPr>
        </p:nvSpPr>
        <p:spPr>
          <a:xfrm>
            <a:off x="1547532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16" name="PlaceHolder 4"/>
          <p:cNvSpPr>
            <a:spLocks noGrp="1"/>
          </p:cNvSpPr>
          <p:nvPr>
            <p:ph/>
          </p:nvPr>
        </p:nvSpPr>
        <p:spPr>
          <a:xfrm>
            <a:off x="15475320" y="2298276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18" name="PlaceHolder 2"/>
          <p:cNvSpPr>
            <a:spLocks noGrp="1"/>
          </p:cNvSpPr>
          <p:nvPr>
            <p:ph/>
          </p:nvPr>
        </p:nvSpPr>
        <p:spPr>
          <a:xfrm>
            <a:off x="151344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19" name="PlaceHolder 3"/>
          <p:cNvSpPr>
            <a:spLocks noGrp="1"/>
          </p:cNvSpPr>
          <p:nvPr>
            <p:ph/>
          </p:nvPr>
        </p:nvSpPr>
        <p:spPr>
          <a:xfrm>
            <a:off x="1547532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20" name="PlaceHolder 4"/>
          <p:cNvSpPr>
            <a:spLocks noGrp="1"/>
          </p:cNvSpPr>
          <p:nvPr>
            <p:ph/>
          </p:nvPr>
        </p:nvSpPr>
        <p:spPr>
          <a:xfrm>
            <a:off x="1513440" y="22982760"/>
            <a:ext cx="2724732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22" name="PlaceHolder 2"/>
          <p:cNvSpPr>
            <a:spLocks noGrp="1"/>
          </p:cNvSpPr>
          <p:nvPr>
            <p:ph/>
          </p:nvPr>
        </p:nvSpPr>
        <p:spPr>
          <a:xfrm>
            <a:off x="1513440" y="10015920"/>
            <a:ext cx="2724732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23" name="PlaceHolder 3"/>
          <p:cNvSpPr>
            <a:spLocks noGrp="1"/>
          </p:cNvSpPr>
          <p:nvPr>
            <p:ph/>
          </p:nvPr>
        </p:nvSpPr>
        <p:spPr>
          <a:xfrm>
            <a:off x="1513440" y="22982760"/>
            <a:ext cx="2724732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25" name="PlaceHolder 2"/>
          <p:cNvSpPr>
            <a:spLocks noGrp="1"/>
          </p:cNvSpPr>
          <p:nvPr>
            <p:ph/>
          </p:nvPr>
        </p:nvSpPr>
        <p:spPr>
          <a:xfrm>
            <a:off x="151344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26" name="PlaceHolder 3"/>
          <p:cNvSpPr>
            <a:spLocks noGrp="1"/>
          </p:cNvSpPr>
          <p:nvPr>
            <p:ph/>
          </p:nvPr>
        </p:nvSpPr>
        <p:spPr>
          <a:xfrm>
            <a:off x="15475320" y="1001592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27" name="PlaceHolder 4"/>
          <p:cNvSpPr>
            <a:spLocks noGrp="1"/>
          </p:cNvSpPr>
          <p:nvPr>
            <p:ph/>
          </p:nvPr>
        </p:nvSpPr>
        <p:spPr>
          <a:xfrm>
            <a:off x="1513440" y="2298276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28" name="PlaceHolder 5"/>
          <p:cNvSpPr>
            <a:spLocks noGrp="1"/>
          </p:cNvSpPr>
          <p:nvPr>
            <p:ph/>
          </p:nvPr>
        </p:nvSpPr>
        <p:spPr>
          <a:xfrm>
            <a:off x="15475320" y="22982760"/>
            <a:ext cx="1329660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13440" y="1707840"/>
            <a:ext cx="27247320" cy="7147800"/>
          </a:xfrm>
          <a:prstGeom prst="rect">
            <a:avLst/>
          </a:prstGeom>
          <a:noFill/>
          <a:ln w="0">
            <a:noFill/>
          </a:ln>
        </p:spPr>
        <p:txBody>
          <a:bodyPr lIns="0" rIns="0" tIns="0" bIns="0" anchor="ctr">
            <a:noAutofit/>
          </a:bodyPr>
          <a:p>
            <a:pPr indent="0" algn="ctr">
              <a:buNone/>
            </a:pPr>
            <a:endParaRPr b="0" lang="it-IT" sz="4400" spc="-1" strike="noStrike">
              <a:solidFill>
                <a:srgbClr val="000000"/>
              </a:solidFill>
              <a:latin typeface="Arial"/>
            </a:endParaRPr>
          </a:p>
        </p:txBody>
      </p:sp>
      <p:sp>
        <p:nvSpPr>
          <p:cNvPr id="30" name="PlaceHolder 2"/>
          <p:cNvSpPr>
            <a:spLocks noGrp="1"/>
          </p:cNvSpPr>
          <p:nvPr>
            <p:ph/>
          </p:nvPr>
        </p:nvSpPr>
        <p:spPr>
          <a:xfrm>
            <a:off x="1513440" y="1001592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31" name="PlaceHolder 3"/>
          <p:cNvSpPr>
            <a:spLocks noGrp="1"/>
          </p:cNvSpPr>
          <p:nvPr>
            <p:ph/>
          </p:nvPr>
        </p:nvSpPr>
        <p:spPr>
          <a:xfrm>
            <a:off x="10726200" y="1001592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32" name="PlaceHolder 4"/>
          <p:cNvSpPr>
            <a:spLocks noGrp="1"/>
          </p:cNvSpPr>
          <p:nvPr>
            <p:ph/>
          </p:nvPr>
        </p:nvSpPr>
        <p:spPr>
          <a:xfrm>
            <a:off x="19938600" y="1001592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33" name="PlaceHolder 5"/>
          <p:cNvSpPr>
            <a:spLocks noGrp="1"/>
          </p:cNvSpPr>
          <p:nvPr>
            <p:ph/>
          </p:nvPr>
        </p:nvSpPr>
        <p:spPr>
          <a:xfrm>
            <a:off x="1513440" y="2298276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34" name="PlaceHolder 6"/>
          <p:cNvSpPr>
            <a:spLocks noGrp="1"/>
          </p:cNvSpPr>
          <p:nvPr>
            <p:ph/>
          </p:nvPr>
        </p:nvSpPr>
        <p:spPr>
          <a:xfrm>
            <a:off x="10726200" y="2298276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
        <p:nvSpPr>
          <p:cNvPr id="35" name="PlaceHolder 7"/>
          <p:cNvSpPr>
            <a:spLocks noGrp="1"/>
          </p:cNvSpPr>
          <p:nvPr>
            <p:ph/>
          </p:nvPr>
        </p:nvSpPr>
        <p:spPr>
          <a:xfrm>
            <a:off x="19938600" y="22982760"/>
            <a:ext cx="8773560" cy="11841480"/>
          </a:xfrm>
          <a:prstGeom prst="rect">
            <a:avLst/>
          </a:prstGeom>
          <a:noFill/>
          <a:ln w="0">
            <a:noFill/>
          </a:ln>
        </p:spPr>
        <p:txBody>
          <a:bodyPr lIns="0" rIns="0" tIns="0" bIns="0" anchor="t">
            <a:normAutofit/>
          </a:bodyPr>
          <a:p>
            <a:pPr indent="0">
              <a:spcBef>
                <a:spcPts val="1417"/>
              </a:spcBef>
              <a:buNone/>
            </a:pPr>
            <a:endParaRPr b="0" lang="it-IT"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jpeg"/><Relationship Id="rId10" Type="http://schemas.openxmlformats.org/officeDocument/2006/relationships/slideLayout" Target="../slideLayouts/slideLayout1.xml"/><Relationship Id="rId11"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Shape 0"/>
          <p:cNvSpPr/>
          <p:nvPr/>
        </p:nvSpPr>
        <p:spPr>
          <a:xfrm>
            <a:off x="0" y="0"/>
            <a:ext cx="30274920" cy="42802200"/>
          </a:xfrm>
          <a:prstGeom prst="rect">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43" name="Shape 1"/>
          <p:cNvSpPr/>
          <p:nvPr/>
        </p:nvSpPr>
        <p:spPr>
          <a:xfrm>
            <a:off x="320040" y="320040"/>
            <a:ext cx="29634840" cy="42162120"/>
          </a:xfrm>
          <a:prstGeom prst="rect">
            <a:avLst/>
          </a:prstGeom>
          <a:noFill/>
          <a:ln w="2540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44" name="Shape 2"/>
          <p:cNvSpPr/>
          <p:nvPr/>
        </p:nvSpPr>
        <p:spPr>
          <a:xfrm>
            <a:off x="0" y="0"/>
            <a:ext cx="30274920" cy="6582960"/>
          </a:xfrm>
          <a:prstGeom prst="rect">
            <a:avLst/>
          </a:prstGeom>
          <a:solidFill>
            <a:srgbClr val="071a2e"/>
          </a:solidFill>
          <a:ln w="12700">
            <a:solidFill>
              <a:srgbClr val="071a2e"/>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45" name="Shape 3"/>
          <p:cNvSpPr/>
          <p:nvPr/>
        </p:nvSpPr>
        <p:spPr>
          <a:xfrm>
            <a:off x="0" y="6583680"/>
            <a:ext cx="30274920" cy="163800"/>
          </a:xfrm>
          <a:prstGeom prst="rect">
            <a:avLst/>
          </a:prstGeom>
          <a:solidFill>
            <a:srgbClr val="f5b51b"/>
          </a:solidFill>
          <a:ln w="12700">
            <a:solidFill>
              <a:srgbClr val="f5b51b"/>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46" name="Shape 4"/>
          <p:cNvSpPr/>
          <p:nvPr/>
        </p:nvSpPr>
        <p:spPr>
          <a:xfrm>
            <a:off x="0" y="6748200"/>
            <a:ext cx="30274920" cy="72360"/>
          </a:xfrm>
          <a:prstGeom prst="rect">
            <a:avLst/>
          </a:prstGeom>
          <a:solidFill>
            <a:srgbClr val="40b7d8"/>
          </a:solidFill>
          <a:ln w="12700">
            <a:solidFill>
              <a:srgbClr val="40b7d8"/>
            </a:solidFill>
            <a:round/>
          </a:ln>
        </p:spPr>
        <p:style>
          <a:lnRef idx="0"/>
          <a:fillRef idx="0"/>
          <a:effectRef idx="0"/>
          <a:fontRef idx="minor"/>
        </p:style>
        <p:txBody>
          <a:bodyPr lIns="90000" rIns="90000" tIns="28080" bIns="28080" anchor="t">
            <a:noAutofit/>
          </a:bodyPr>
          <a:p>
            <a:pPr>
              <a:lnSpc>
                <a:spcPct val="100000"/>
              </a:lnSpc>
            </a:pPr>
            <a:endParaRPr b="0" lang="en-GB" sz="1800" spc="-1" strike="noStrike">
              <a:solidFill>
                <a:srgbClr val="000000"/>
              </a:solidFill>
              <a:latin typeface="Aptos"/>
              <a:ea typeface="DejaVu Sans"/>
            </a:endParaRPr>
          </a:p>
        </p:txBody>
      </p:sp>
      <p:pic>
        <p:nvPicPr>
          <p:cNvPr id="47" name="Image 0" descr="/mnt/data/logocrop.png"/>
          <p:cNvPicPr/>
          <p:nvPr/>
        </p:nvPicPr>
        <p:blipFill>
          <a:blip r:embed="rId1"/>
          <a:stretch/>
        </p:blipFill>
        <p:spPr>
          <a:xfrm>
            <a:off x="960120" y="1166760"/>
            <a:ext cx="4205520" cy="3426120"/>
          </a:xfrm>
          <a:prstGeom prst="rect">
            <a:avLst/>
          </a:prstGeom>
          <a:ln w="0">
            <a:noFill/>
          </a:ln>
        </p:spPr>
      </p:pic>
      <p:pic>
        <p:nvPicPr>
          <p:cNvPr id="48" name="Image 1" descr=""/>
          <p:cNvPicPr/>
          <p:nvPr/>
        </p:nvPicPr>
        <p:blipFill>
          <a:blip r:embed="rId2"/>
          <a:stretch/>
        </p:blipFill>
        <p:spPr>
          <a:xfrm>
            <a:off x="22957560" y="1155600"/>
            <a:ext cx="6296040" cy="3357360"/>
          </a:xfrm>
          <a:prstGeom prst="rect">
            <a:avLst/>
          </a:prstGeom>
          <a:ln w="0">
            <a:noFill/>
          </a:ln>
        </p:spPr>
      </p:pic>
      <p:sp>
        <p:nvSpPr>
          <p:cNvPr id="49" name="Text 7"/>
          <p:cNvSpPr/>
          <p:nvPr/>
        </p:nvSpPr>
        <p:spPr>
          <a:xfrm>
            <a:off x="5882040" y="3246120"/>
            <a:ext cx="16549920" cy="502200"/>
          </a:xfrm>
          <a:prstGeom prst="rect">
            <a:avLst/>
          </a:prstGeom>
          <a:noFill/>
          <a:ln w="0">
            <a:noFill/>
          </a:ln>
        </p:spPr>
        <p:style>
          <a:lnRef idx="0"/>
          <a:fillRef idx="0"/>
          <a:effectRef idx="0"/>
          <a:fontRef idx="minor"/>
        </p:style>
        <p:txBody>
          <a:bodyPr lIns="90000" rIns="90000" tIns="45000" bIns="45000" anchor="ctr">
            <a:normAutofit fontScale="86000"/>
          </a:bodyPr>
          <a:p>
            <a:pPr algn="ctr">
              <a:lnSpc>
                <a:spcPct val="100000"/>
              </a:lnSpc>
              <a:tabLst>
                <a:tab algn="l" pos="0"/>
              </a:tabLst>
            </a:pPr>
            <a:r>
              <a:rPr b="0" lang="en-US" sz="3200" spc="-1" strike="noStrike">
                <a:solidFill>
                  <a:srgbClr val="f5b51b"/>
                </a:solidFill>
                <a:latin typeface="Aptos"/>
                <a:ea typeface="DejaVu Sans"/>
              </a:rPr>
              <a:t>Generative and Deep Learning Course 2025/2026 - University of Pisa</a:t>
            </a:r>
            <a:endParaRPr b="0" lang="it-IT" sz="3200" spc="-1" strike="noStrike">
              <a:solidFill>
                <a:srgbClr val="000000"/>
              </a:solidFill>
              <a:latin typeface="Arial"/>
            </a:endParaRPr>
          </a:p>
        </p:txBody>
      </p:sp>
      <p:sp>
        <p:nvSpPr>
          <p:cNvPr id="50" name="Shape 9"/>
          <p:cNvSpPr/>
          <p:nvPr/>
        </p:nvSpPr>
        <p:spPr>
          <a:xfrm>
            <a:off x="960120" y="7635240"/>
            <a:ext cx="13834080" cy="15452640"/>
          </a:xfrm>
          <a:prstGeom prst="roundRect">
            <a:avLst>
              <a:gd name="adj" fmla="val 1190"/>
            </a:avLst>
          </a:prstGeom>
          <a:solidFill>
            <a:srgbClr val="ffffff"/>
          </a:solidFill>
          <a:ln w="3175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51" name="Shape 10"/>
          <p:cNvSpPr/>
          <p:nvPr/>
        </p:nvSpPr>
        <p:spPr>
          <a:xfrm>
            <a:off x="960120" y="7635240"/>
            <a:ext cx="13834080" cy="1142280"/>
          </a:xfrm>
          <a:prstGeom prst="rect">
            <a:avLst/>
          </a:prstGeom>
          <a:solidFill>
            <a:srgbClr val="005b96"/>
          </a:solidFill>
          <a:ln w="1270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52" name="Text 11"/>
          <p:cNvSpPr/>
          <p:nvPr/>
        </p:nvSpPr>
        <p:spPr>
          <a:xfrm>
            <a:off x="1371600" y="7836480"/>
            <a:ext cx="13011120" cy="5936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Lst>
            </a:pPr>
            <a:r>
              <a:rPr b="1" lang="en-US" sz="2800" spc="-1" strike="noStrike">
                <a:solidFill>
                  <a:srgbClr val="ffffff"/>
                </a:solidFill>
                <a:latin typeface="Aptos Display"/>
                <a:ea typeface="Aptos Display"/>
              </a:rPr>
              <a:t>1. Introduction</a:t>
            </a:r>
            <a:endParaRPr b="0" lang="it-IT" sz="2800" spc="-1" strike="noStrike">
              <a:solidFill>
                <a:srgbClr val="000000"/>
              </a:solidFill>
              <a:latin typeface="Arial"/>
            </a:endParaRPr>
          </a:p>
        </p:txBody>
      </p:sp>
      <p:sp>
        <p:nvSpPr>
          <p:cNvPr id="53" name="Shape 14"/>
          <p:cNvSpPr/>
          <p:nvPr/>
        </p:nvSpPr>
        <p:spPr>
          <a:xfrm>
            <a:off x="1463040" y="13167360"/>
            <a:ext cx="12828240" cy="9051840"/>
          </a:xfrm>
          <a:prstGeom prst="roundRect">
            <a:avLst>
              <a:gd name="adj" fmla="val 1616"/>
            </a:avLst>
          </a:prstGeom>
          <a:solidFill>
            <a:srgbClr val="ffffff">
              <a:alpha val="90000"/>
            </a:srgbClr>
          </a:solidFill>
          <a:ln w="15875">
            <a:solidFill>
              <a:srgbClr val="d2dae2"/>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54" name="Shape 16"/>
          <p:cNvSpPr/>
          <p:nvPr/>
        </p:nvSpPr>
        <p:spPr>
          <a:xfrm>
            <a:off x="1463040" y="22521600"/>
            <a:ext cx="12828240" cy="8280"/>
          </a:xfrm>
          <a:prstGeom prst="rect">
            <a:avLst/>
          </a:prstGeom>
          <a:noFill/>
          <a:ln w="6350">
            <a:solidFill>
              <a:srgbClr val="005b96">
                <a:alpha val="60000"/>
              </a:srgbClr>
            </a:solidFill>
            <a:round/>
          </a:ln>
        </p:spPr>
        <p:style>
          <a:lnRef idx="0"/>
          <a:fillRef idx="0"/>
          <a:effectRef idx="0"/>
          <a:fontRef idx="minor"/>
        </p:style>
        <p:txBody>
          <a:bodyPr lIns="90000" rIns="90000" tIns="-36000" bIns="-36000" anchor="t">
            <a:noAutofit/>
          </a:bodyPr>
          <a:p>
            <a:pPr>
              <a:lnSpc>
                <a:spcPct val="100000"/>
              </a:lnSpc>
            </a:pPr>
            <a:endParaRPr b="0" lang="en-GB" sz="1800" spc="-1" strike="noStrike">
              <a:solidFill>
                <a:srgbClr val="000000"/>
              </a:solidFill>
              <a:latin typeface="Aptos"/>
              <a:ea typeface="DejaVu Sans"/>
            </a:endParaRPr>
          </a:p>
        </p:txBody>
      </p:sp>
      <p:sp>
        <p:nvSpPr>
          <p:cNvPr id="55" name="Shape 18"/>
          <p:cNvSpPr/>
          <p:nvPr/>
        </p:nvSpPr>
        <p:spPr>
          <a:xfrm>
            <a:off x="15480720" y="7635240"/>
            <a:ext cx="13834080" cy="1142280"/>
          </a:xfrm>
          <a:prstGeom prst="rect">
            <a:avLst/>
          </a:prstGeom>
          <a:solidFill>
            <a:srgbClr val="f5b51b"/>
          </a:solidFill>
          <a:ln w="12700">
            <a:solidFill>
              <a:srgbClr val="f5b51b"/>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56" name="Text 19"/>
          <p:cNvSpPr/>
          <p:nvPr/>
        </p:nvSpPr>
        <p:spPr>
          <a:xfrm>
            <a:off x="15892200" y="7836480"/>
            <a:ext cx="13011120" cy="5936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Lst>
            </a:pPr>
            <a:r>
              <a:rPr b="1" lang="en-US" sz="2800" spc="-1" strike="noStrike">
                <a:solidFill>
                  <a:srgbClr val="ffffff"/>
                </a:solidFill>
                <a:latin typeface="Aptos Display"/>
                <a:ea typeface="Aptos Display"/>
              </a:rPr>
              <a:t>2. Approach</a:t>
            </a:r>
            <a:endParaRPr b="0" lang="it-IT" sz="2800" spc="-1" strike="noStrike">
              <a:solidFill>
                <a:srgbClr val="000000"/>
              </a:solidFill>
              <a:latin typeface="Arial"/>
            </a:endParaRPr>
          </a:p>
        </p:txBody>
      </p:sp>
      <p:sp>
        <p:nvSpPr>
          <p:cNvPr id="57" name="Shape 22"/>
          <p:cNvSpPr/>
          <p:nvPr/>
        </p:nvSpPr>
        <p:spPr>
          <a:xfrm>
            <a:off x="15983640" y="12349440"/>
            <a:ext cx="12828240" cy="9869760"/>
          </a:xfrm>
          <a:prstGeom prst="roundRect">
            <a:avLst>
              <a:gd name="adj" fmla="val 1616"/>
            </a:avLst>
          </a:prstGeom>
          <a:solidFill>
            <a:srgbClr val="ffffff">
              <a:alpha val="90000"/>
            </a:srgbClr>
          </a:solidFill>
          <a:ln w="12700">
            <a:solidFill>
              <a:srgbClr val="f5b51b"/>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58" name="Shape 24"/>
          <p:cNvSpPr/>
          <p:nvPr/>
        </p:nvSpPr>
        <p:spPr>
          <a:xfrm>
            <a:off x="15983640" y="22521600"/>
            <a:ext cx="12828240" cy="8280"/>
          </a:xfrm>
          <a:prstGeom prst="rect">
            <a:avLst/>
          </a:prstGeom>
          <a:noFill/>
          <a:ln w="6350">
            <a:solidFill>
              <a:srgbClr val="f5b51b">
                <a:alpha val="60000"/>
              </a:srgbClr>
            </a:solidFill>
            <a:round/>
          </a:ln>
        </p:spPr>
        <p:style>
          <a:lnRef idx="0"/>
          <a:fillRef idx="0"/>
          <a:effectRef idx="0"/>
          <a:fontRef idx="minor"/>
        </p:style>
        <p:txBody>
          <a:bodyPr lIns="90000" rIns="90000" tIns="-36000" bIns="-36000" anchor="t">
            <a:noAutofit/>
          </a:bodyPr>
          <a:p>
            <a:pPr>
              <a:lnSpc>
                <a:spcPct val="100000"/>
              </a:lnSpc>
            </a:pPr>
            <a:endParaRPr b="0" lang="en-GB" sz="1800" spc="-1" strike="noStrike">
              <a:solidFill>
                <a:srgbClr val="000000"/>
              </a:solidFill>
              <a:latin typeface="Aptos"/>
              <a:ea typeface="DejaVu Sans"/>
            </a:endParaRPr>
          </a:p>
        </p:txBody>
      </p:sp>
      <p:sp>
        <p:nvSpPr>
          <p:cNvPr id="59" name="Shape 25"/>
          <p:cNvSpPr/>
          <p:nvPr/>
        </p:nvSpPr>
        <p:spPr>
          <a:xfrm>
            <a:off x="960120" y="23774400"/>
            <a:ext cx="13834080" cy="15825600"/>
          </a:xfrm>
          <a:prstGeom prst="roundRect">
            <a:avLst>
              <a:gd name="adj" fmla="val 1190"/>
            </a:avLst>
          </a:prstGeom>
          <a:solidFill>
            <a:srgbClr val="ffffff"/>
          </a:solidFill>
          <a:ln w="31750">
            <a:solidFill>
              <a:srgbClr val="40b7d8"/>
            </a:solidFill>
            <a:round/>
          </a:ln>
        </p:spPr>
        <p:style>
          <a:lnRef idx="0"/>
          <a:fillRef idx="0"/>
          <a:effectRef idx="0"/>
          <a:fontRef idx="minor"/>
        </p:style>
        <p:txBody>
          <a:bodyPr lIns="90000" rIns="90000" tIns="45000" bIns="45000" anchor="t">
            <a:noAutofit/>
          </a:bodyPr>
          <a:p>
            <a:pPr>
              <a:lnSpc>
                <a:spcPct val="100000"/>
              </a:lnSpc>
            </a:pPr>
            <a:endParaRPr b="1" lang="it-IT" sz="1800" spc="-1" strike="noStrike">
              <a:solidFill>
                <a:schemeClr val="accent5">
                  <a:lumMod val="75000"/>
                </a:schemeClr>
              </a:solidFill>
              <a:latin typeface="Aptos"/>
              <a:ea typeface="DejaVu Sans"/>
            </a:endParaRPr>
          </a:p>
        </p:txBody>
      </p:sp>
      <p:sp>
        <p:nvSpPr>
          <p:cNvPr id="60" name="Shape 26"/>
          <p:cNvSpPr/>
          <p:nvPr/>
        </p:nvSpPr>
        <p:spPr>
          <a:xfrm>
            <a:off x="960120" y="23774400"/>
            <a:ext cx="13834080" cy="1142280"/>
          </a:xfrm>
          <a:prstGeom prst="rect">
            <a:avLst/>
          </a:prstGeom>
          <a:solidFill>
            <a:srgbClr val="40b7d8"/>
          </a:solidFill>
          <a:ln w="12700">
            <a:solidFill>
              <a:srgbClr val="40b7d8"/>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61" name="Text 27"/>
          <p:cNvSpPr/>
          <p:nvPr/>
        </p:nvSpPr>
        <p:spPr>
          <a:xfrm>
            <a:off x="1371600" y="23975640"/>
            <a:ext cx="13011120" cy="5936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Lst>
            </a:pPr>
            <a:r>
              <a:rPr b="1" lang="en-US" sz="2800" spc="-1" strike="noStrike">
                <a:solidFill>
                  <a:srgbClr val="ffffff"/>
                </a:solidFill>
                <a:latin typeface="Aptos Display"/>
                <a:ea typeface="Aptos Display"/>
              </a:rPr>
              <a:t>3. Experiments</a:t>
            </a:r>
            <a:endParaRPr b="0" lang="it-IT" sz="2800" spc="-1" strike="noStrike">
              <a:solidFill>
                <a:srgbClr val="000000"/>
              </a:solidFill>
              <a:latin typeface="Arial"/>
            </a:endParaRPr>
          </a:p>
        </p:txBody>
      </p:sp>
      <p:sp>
        <p:nvSpPr>
          <p:cNvPr id="62" name="Shape 32"/>
          <p:cNvSpPr/>
          <p:nvPr/>
        </p:nvSpPr>
        <p:spPr>
          <a:xfrm>
            <a:off x="1463040" y="39117960"/>
            <a:ext cx="12828240" cy="8280"/>
          </a:xfrm>
          <a:prstGeom prst="rect">
            <a:avLst/>
          </a:prstGeom>
          <a:noFill/>
          <a:ln w="6350">
            <a:solidFill>
              <a:srgbClr val="40b7d8">
                <a:alpha val="60000"/>
              </a:srgbClr>
            </a:solidFill>
            <a:round/>
          </a:ln>
        </p:spPr>
        <p:style>
          <a:lnRef idx="0"/>
          <a:fillRef idx="0"/>
          <a:effectRef idx="0"/>
          <a:fontRef idx="minor"/>
        </p:style>
        <p:txBody>
          <a:bodyPr lIns="90000" rIns="90000" tIns="-36000" bIns="-36000" anchor="t">
            <a:noAutofit/>
          </a:bodyPr>
          <a:p>
            <a:pPr>
              <a:lnSpc>
                <a:spcPct val="100000"/>
              </a:lnSpc>
            </a:pPr>
            <a:endParaRPr b="0" lang="en-GB" sz="1800" spc="-1" strike="noStrike">
              <a:solidFill>
                <a:srgbClr val="000000"/>
              </a:solidFill>
              <a:latin typeface="Aptos"/>
              <a:ea typeface="DejaVu Sans"/>
            </a:endParaRPr>
          </a:p>
        </p:txBody>
      </p:sp>
      <p:sp>
        <p:nvSpPr>
          <p:cNvPr id="63" name="Shape 33"/>
          <p:cNvSpPr/>
          <p:nvPr/>
        </p:nvSpPr>
        <p:spPr>
          <a:xfrm>
            <a:off x="15480720" y="23774400"/>
            <a:ext cx="13834080" cy="15909840"/>
          </a:xfrm>
          <a:prstGeom prst="roundRect">
            <a:avLst>
              <a:gd name="adj" fmla="val 1190"/>
            </a:avLst>
          </a:prstGeom>
          <a:solidFill>
            <a:srgbClr val="ffffff"/>
          </a:solidFill>
          <a:ln w="3175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64" name="Shape 34"/>
          <p:cNvSpPr/>
          <p:nvPr/>
        </p:nvSpPr>
        <p:spPr>
          <a:xfrm>
            <a:off x="15480720" y="23774400"/>
            <a:ext cx="13834080" cy="1142280"/>
          </a:xfrm>
          <a:prstGeom prst="rect">
            <a:avLst/>
          </a:prstGeom>
          <a:solidFill>
            <a:srgbClr val="005b96"/>
          </a:solidFill>
          <a:ln w="1270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65" name="Text 35"/>
          <p:cNvSpPr/>
          <p:nvPr/>
        </p:nvSpPr>
        <p:spPr>
          <a:xfrm>
            <a:off x="15892200" y="23975640"/>
            <a:ext cx="13011120" cy="5936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Lst>
            </a:pPr>
            <a:r>
              <a:rPr b="1" lang="en-US" sz="2800" spc="-1" strike="noStrike">
                <a:solidFill>
                  <a:srgbClr val="ffffff"/>
                </a:solidFill>
                <a:latin typeface="Aptos Display"/>
                <a:ea typeface="Aptos Display"/>
              </a:rPr>
              <a:t>4. Personal considerations</a:t>
            </a:r>
            <a:endParaRPr b="0" lang="it-IT" sz="2800" spc="-1" strike="noStrike">
              <a:solidFill>
                <a:srgbClr val="000000"/>
              </a:solidFill>
              <a:latin typeface="Arial"/>
            </a:endParaRPr>
          </a:p>
        </p:txBody>
      </p:sp>
      <p:sp>
        <p:nvSpPr>
          <p:cNvPr id="66" name="Shape 38"/>
          <p:cNvSpPr/>
          <p:nvPr/>
        </p:nvSpPr>
        <p:spPr>
          <a:xfrm>
            <a:off x="15983640" y="28562760"/>
            <a:ext cx="12828240" cy="10252800"/>
          </a:xfrm>
          <a:prstGeom prst="roundRect">
            <a:avLst>
              <a:gd name="adj" fmla="val 1538"/>
            </a:avLst>
          </a:prstGeom>
          <a:solidFill>
            <a:srgbClr val="ffffff">
              <a:alpha val="90000"/>
            </a:srgbClr>
          </a:solidFill>
          <a:ln w="12700">
            <a:solidFill>
              <a:srgbClr val="005b96"/>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67" name="Shape 40"/>
          <p:cNvSpPr/>
          <p:nvPr/>
        </p:nvSpPr>
        <p:spPr>
          <a:xfrm>
            <a:off x="15983640" y="39117960"/>
            <a:ext cx="12828240" cy="8280"/>
          </a:xfrm>
          <a:prstGeom prst="rect">
            <a:avLst/>
          </a:prstGeom>
          <a:noFill/>
          <a:ln w="6350">
            <a:solidFill>
              <a:srgbClr val="005b96">
                <a:alpha val="60000"/>
              </a:srgbClr>
            </a:solidFill>
            <a:round/>
          </a:ln>
        </p:spPr>
        <p:style>
          <a:lnRef idx="0"/>
          <a:fillRef idx="0"/>
          <a:effectRef idx="0"/>
          <a:fontRef idx="minor"/>
        </p:style>
        <p:txBody>
          <a:bodyPr lIns="90000" rIns="90000" tIns="-36000" bIns="-36000" anchor="t">
            <a:noAutofit/>
          </a:bodyPr>
          <a:p>
            <a:pPr>
              <a:lnSpc>
                <a:spcPct val="100000"/>
              </a:lnSpc>
            </a:pPr>
            <a:endParaRPr b="0" lang="en-GB" sz="1800" spc="-1" strike="noStrike">
              <a:solidFill>
                <a:srgbClr val="000000"/>
              </a:solidFill>
              <a:latin typeface="Aptos"/>
              <a:ea typeface="DejaVu Sans"/>
            </a:endParaRPr>
          </a:p>
        </p:txBody>
      </p:sp>
      <p:sp>
        <p:nvSpPr>
          <p:cNvPr id="68" name="Shape 41"/>
          <p:cNvSpPr/>
          <p:nvPr/>
        </p:nvSpPr>
        <p:spPr>
          <a:xfrm>
            <a:off x="0" y="41477040"/>
            <a:ext cx="30274920" cy="1325160"/>
          </a:xfrm>
          <a:prstGeom prst="rect">
            <a:avLst/>
          </a:prstGeom>
          <a:solidFill>
            <a:srgbClr val="071a2e"/>
          </a:solidFill>
          <a:ln w="12700">
            <a:solidFill>
              <a:srgbClr val="071a2e"/>
            </a:solidFill>
            <a:round/>
          </a:ln>
        </p:spPr>
        <p:style>
          <a:lnRef idx="0"/>
          <a:fillRef idx="0"/>
          <a:effectRef idx="0"/>
          <a:fontRef idx="minor"/>
        </p:style>
        <p:txBody>
          <a:bodyPr lIns="90000" rIns="90000" tIns="45000" bIns="45000" anchor="t">
            <a:noAutofit/>
          </a:bodyPr>
          <a:p>
            <a:pPr>
              <a:lnSpc>
                <a:spcPct val="100000"/>
              </a:lnSpc>
            </a:pPr>
            <a:endParaRPr b="0" lang="en-GB" sz="1800" spc="-1" strike="noStrike">
              <a:solidFill>
                <a:srgbClr val="000000"/>
              </a:solidFill>
              <a:latin typeface="Aptos"/>
              <a:ea typeface="DejaVu Sans"/>
            </a:endParaRPr>
          </a:p>
        </p:txBody>
      </p:sp>
      <p:sp>
        <p:nvSpPr>
          <p:cNvPr id="69" name="Text 43"/>
          <p:cNvSpPr/>
          <p:nvPr/>
        </p:nvSpPr>
        <p:spPr>
          <a:xfrm>
            <a:off x="1097280" y="42254280"/>
            <a:ext cx="28080360" cy="29196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0" lang="en-US" sz="1000" spc="-1" strike="noStrike">
                <a:solidFill>
                  <a:srgbClr val="f5b51b"/>
                </a:solidFill>
                <a:latin typeface="Aptos"/>
                <a:ea typeface="DejaVu Sans"/>
              </a:rPr>
              <a:t>Generative and Deep Learning Course · University of Pisa</a:t>
            </a:r>
            <a:endParaRPr b="0" lang="it-IT" sz="1000" spc="-1" strike="noStrike">
              <a:solidFill>
                <a:srgbClr val="000000"/>
              </a:solidFill>
              <a:latin typeface="Arial"/>
            </a:endParaRPr>
          </a:p>
        </p:txBody>
      </p:sp>
      <p:sp>
        <p:nvSpPr>
          <p:cNvPr id="70" name="Text 13"/>
          <p:cNvSpPr/>
          <p:nvPr/>
        </p:nvSpPr>
        <p:spPr>
          <a:xfrm>
            <a:off x="1371600" y="9048600"/>
            <a:ext cx="12828240" cy="2925360"/>
          </a:xfrm>
          <a:prstGeom prst="rect">
            <a:avLst/>
          </a:prstGeom>
          <a:noFill/>
          <a:ln w="0">
            <a:noFill/>
          </a:ln>
        </p:spPr>
        <p:style>
          <a:lnRef idx="0"/>
          <a:fillRef idx="0"/>
          <a:effectRef idx="0"/>
          <a:fontRef idx="minor"/>
        </p:style>
        <p:txBody>
          <a:bodyPr lIns="90000" rIns="90000" tIns="45000" bIns="45000" anchor="t">
            <a:normAutofit/>
          </a:bodyPr>
          <a:p>
            <a:pPr>
              <a:lnSpc>
                <a:spcPct val="100000"/>
              </a:lnSpc>
            </a:pPr>
            <a:r>
              <a:rPr b="1" lang="en-US" sz="1800" spc="-1" strike="noStrike">
                <a:solidFill>
                  <a:srgbClr val="005b96"/>
                </a:solidFill>
                <a:latin typeface="Aptos"/>
                <a:ea typeface="DejaVu Sans"/>
              </a:rPr>
              <a:t>Problem:</a:t>
            </a:r>
            <a:r>
              <a:rPr b="0" lang="en-US" sz="1800" spc="-1" strike="noStrike">
                <a:solidFill>
                  <a:srgbClr val="52616b"/>
                </a:solidFill>
                <a:latin typeface="Aptos"/>
                <a:ea typeface="DejaVu Sans"/>
              </a:rPr>
              <a:t> Learning compact, disentangled causal representations from high-dimensional observations (e.g., images) in interactive environments (robotics, embodied AI) is crucial but hard. Agents interact with the world but their interaction targets are unknown.</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005b96"/>
                </a:solidFill>
                <a:latin typeface="Aptos"/>
                <a:ea typeface="DejaVu Sans"/>
              </a:rPr>
              <a:t>Gap:</a:t>
            </a:r>
            <a:r>
              <a:rPr b="0" lang="en-US" sz="1800" spc="-1" strike="noStrike">
                <a:solidFill>
                  <a:srgbClr val="52616b"/>
                </a:solidFill>
                <a:latin typeface="Aptos"/>
                <a:ea typeface="DejaVu Sans"/>
              </a:rPr>
              <a:t> Prior methods either require known intervention targets (supervision), many regime variables (linear scaling with K), or fail on common models like additive Gaussian noise.</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005b96"/>
                </a:solidFill>
                <a:latin typeface="Aptos"/>
                <a:ea typeface="DejaVu Sans"/>
              </a:rPr>
              <a:t>Contribution:</a:t>
            </a:r>
            <a:r>
              <a:rPr b="0" lang="en-US" sz="1800" spc="-1" strike="noStrike">
                <a:solidFill>
                  <a:srgbClr val="52616b"/>
                </a:solidFill>
                <a:latin typeface="Aptos"/>
                <a:ea typeface="DejaVu Sans"/>
              </a:rPr>
              <a:t> BISCUIT  theoretically shows that causal variables are identifiable when each variable is associated with a binary interaction variable. It jointly learns causal variables and their unknown binary interaction targets — with as few as log₂(K)+2 distinct actions.</a:t>
            </a:r>
            <a:endParaRPr b="0" lang="it-IT" sz="1800" spc="-1" strike="noStrike">
              <a:solidFill>
                <a:srgbClr val="000000"/>
              </a:solidFill>
              <a:latin typeface="Arial"/>
            </a:endParaRPr>
          </a:p>
        </p:txBody>
      </p:sp>
      <p:sp>
        <p:nvSpPr>
          <p:cNvPr id="71" name="Text 21"/>
          <p:cNvSpPr/>
          <p:nvPr/>
        </p:nvSpPr>
        <p:spPr>
          <a:xfrm>
            <a:off x="15892200" y="9048600"/>
            <a:ext cx="12828240" cy="292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47b00"/>
                </a:solidFill>
                <a:latin typeface="Aptos"/>
                <a:ea typeface="DejaVu Sans"/>
              </a:rPr>
              <a:t>Causal Model:</a:t>
            </a:r>
            <a:r>
              <a:rPr b="0" lang="en-US" sz="1800" spc="-1" strike="noStrike">
                <a:solidFill>
                  <a:srgbClr val="52616b"/>
                </a:solidFill>
                <a:latin typeface="Aptos"/>
                <a:ea typeface="DejaVu Sans"/>
              </a:rPr>
              <a:t> K latent causal variables C₁,...,Cₖ evolve over time (dynamic Bayesian network). Each variable  has a latent binary interaction variable  ∈ {0,1} that selects between two mechanisms — observational or interventional — driven by an observed regime variable R𝑡 (e.g., robot action).</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c47b00"/>
                </a:solidFill>
                <a:latin typeface="Aptos"/>
                <a:ea typeface="DejaVu Sans"/>
              </a:rPr>
              <a:t>Identifiability:</a:t>
            </a:r>
            <a:r>
              <a:rPr b="0" lang="en-US" sz="1800" spc="-1" strike="noStrike">
                <a:solidFill>
                  <a:srgbClr val="52616b"/>
                </a:solidFill>
                <a:latin typeface="Aptos"/>
                <a:ea typeface="DejaVu Sans"/>
              </a:rPr>
              <a:t> Variables are identifiable (up to permutation and element-wise transforms) if each has a distinct interaction pattern (no two always co-activated), and the log-likelihood difference Δ(C𝑖|C𝑡⁻¹) varies in dynamics or time.</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c47b00"/>
                </a:solidFill>
                <a:latin typeface="Aptos"/>
                <a:ea typeface="DejaVu Sans"/>
              </a:rPr>
              <a:t>Architecture:</a:t>
            </a:r>
            <a:r>
              <a:rPr b="0" lang="en-US" sz="1800" spc="-1" strike="noStrike">
                <a:solidFill>
                  <a:srgbClr val="52616b"/>
                </a:solidFill>
                <a:latin typeface="Aptos"/>
                <a:ea typeface="DejaVu Sans"/>
              </a:rPr>
              <a:t> BISCUIT is a VAE (encoder/decoder + structured prior). The prior uses per-variable MLPs: one predicts I𝑖 from (R𝑡, z𝑡⁻¹) via temperature-scaled tanh; another predicts p(z𝑖𝑡 | z𝑡⁻¹, I𝑖). BISCUIT-NF separates autoencoder and normalizing-flow stages for visually complex scenes.</a:t>
            </a:r>
            <a:endParaRPr b="0" lang="it-IT" sz="1800" spc="-1" strike="noStrike">
              <a:solidFill>
                <a:srgbClr val="000000"/>
              </a:solidFill>
              <a:latin typeface="Arial"/>
            </a:endParaRPr>
          </a:p>
        </p:txBody>
      </p:sp>
      <p:pic>
        <p:nvPicPr>
          <p:cNvPr id="72" name="Picture 49" descr=""/>
          <p:cNvPicPr/>
          <p:nvPr/>
        </p:nvPicPr>
        <p:blipFill>
          <a:blip r:embed="rId3"/>
          <a:stretch/>
        </p:blipFill>
        <p:spPr>
          <a:xfrm>
            <a:off x="15983640" y="12270960"/>
            <a:ext cx="12722400" cy="9705240"/>
          </a:xfrm>
          <a:prstGeom prst="rect">
            <a:avLst/>
          </a:prstGeom>
          <a:ln w="0">
            <a:noFill/>
          </a:ln>
        </p:spPr>
      </p:pic>
      <p:sp>
        <p:nvSpPr>
          <p:cNvPr id="73" name="Text 29"/>
          <p:cNvSpPr/>
          <p:nvPr/>
        </p:nvSpPr>
        <p:spPr>
          <a:xfrm>
            <a:off x="1450440" y="25316640"/>
            <a:ext cx="12828240" cy="5446080"/>
          </a:xfrm>
          <a:prstGeom prst="rect">
            <a:avLst/>
          </a:prstGeom>
          <a:noFill/>
          <a:ln w="0">
            <a:noFill/>
          </a:ln>
        </p:spPr>
        <p:style>
          <a:lnRef idx="0"/>
          <a:fillRef idx="0"/>
          <a:effectRef idx="0"/>
          <a:fontRef idx="minor"/>
        </p:style>
        <p:txBody>
          <a:bodyPr lIns="90000" rIns="90000" tIns="45000" bIns="45000" anchor="t">
            <a:normAutofit fontScale="79000"/>
          </a:bodyPr>
          <a:p>
            <a:pPr>
              <a:lnSpc>
                <a:spcPct val="100000"/>
              </a:lnSpc>
            </a:pPr>
            <a:r>
              <a:rPr b="1" lang="en-US" sz="2400" spc="-1" strike="noStrike">
                <a:solidFill>
                  <a:srgbClr val="1a7a9a"/>
                </a:solidFill>
                <a:latin typeface="Aptos Display"/>
                <a:ea typeface="DejaVu Sans"/>
              </a:rPr>
              <a:t>Datasets:</a:t>
            </a:r>
            <a:r>
              <a:rPr b="0" lang="en-US" sz="2400" spc="-1" strike="noStrike">
                <a:solidFill>
                  <a:srgbClr val="52616b"/>
                </a:solidFill>
                <a:latin typeface="Aptos Display"/>
                <a:ea typeface="DejaVu Sans"/>
              </a:rPr>
              <a:t> </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Display"/>
                <a:ea typeface="DejaVu Sans"/>
              </a:rPr>
              <a:t>1. Voronoi: </a:t>
            </a:r>
            <a:r>
              <a:rPr b="0" lang="en-US" sz="2400" spc="-1" strike="noStrike">
                <a:solidFill>
                  <a:srgbClr val="52616b"/>
                </a:solidFill>
                <a:latin typeface="Aptos Display"/>
                <a:ea typeface="DejaVu Sans"/>
              </a:rPr>
              <a:t>Synthetic benchmark, additive Gaussian noise, 6 or 9 causal variables, robotic arm as regime; </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Display"/>
                <a:ea typeface="DejaVu Sans"/>
              </a:rPr>
              <a:t>2. CausalWorld: </a:t>
            </a:r>
            <a:r>
              <a:rPr b="0" lang="en-US" sz="2400" spc="-1" strike="noStrike">
                <a:solidFill>
                  <a:srgbClr val="52616b"/>
                </a:solidFill>
                <a:latin typeface="Aptos Display"/>
                <a:ea typeface="DejaVu Sans"/>
              </a:rPr>
              <a:t>Tri-finger robot manipulating a cube in 3D. Tests robustness, as real interactions are not strictly binary (depend on velocity, rotation, etc.).</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Display"/>
                <a:ea typeface="DejaVu Sans"/>
              </a:rPr>
              <a:t>3. iTHOR: </a:t>
            </a:r>
            <a:r>
              <a:rPr b="0" lang="en-US" sz="2400" spc="-1" strike="noStrike">
                <a:solidFill>
                  <a:srgbClr val="52616b"/>
                </a:solidFill>
                <a:latin typeface="Aptos Display"/>
                <a:ea typeface="DejaVu Sans"/>
              </a:rPr>
              <a:t>Realistic environment with 18 causal variables (embodied AI). Conditional variable states depends on previous variables interaction (time dependency)</a:t>
            </a:r>
            <a:endParaRPr b="0" lang="it-IT" sz="2400" spc="-1" strike="noStrike">
              <a:solidFill>
                <a:srgbClr val="000000"/>
              </a:solidFill>
              <a:latin typeface="Arial"/>
            </a:endParaRPr>
          </a:p>
          <a:p>
            <a:pPr>
              <a:lnSpc>
                <a:spcPct val="100000"/>
              </a:lnSpc>
            </a:pPr>
            <a:endParaRPr b="0" lang="it-IT" sz="2400" spc="-1" strike="noStrike">
              <a:solidFill>
                <a:srgbClr val="000000"/>
              </a:solidFill>
              <a:latin typeface="Arial"/>
            </a:endParaRPr>
          </a:p>
          <a:p>
            <a:pPr>
              <a:lnSpc>
                <a:spcPct val="100000"/>
              </a:lnSpc>
            </a:pPr>
            <a:r>
              <a:rPr b="1" lang="en-US" sz="2400" spc="-1" strike="noStrike">
                <a:solidFill>
                  <a:srgbClr val="1a7a9a"/>
                </a:solidFill>
                <a:latin typeface="Aptos Display"/>
                <a:ea typeface="DejaVu Sans"/>
              </a:rPr>
              <a:t>Metric &amp; baselines:</a:t>
            </a:r>
            <a:r>
              <a:rPr b="0" lang="en-US" sz="2400" spc="-1" strike="noStrike">
                <a:solidFill>
                  <a:srgbClr val="52616b"/>
                </a:solidFill>
                <a:latin typeface="Aptos Display"/>
                <a:ea typeface="DejaVu Sans"/>
              </a:rPr>
              <a:t> </a:t>
            </a:r>
            <a:endParaRPr b="0" lang="it-IT" sz="2400" spc="-1" strike="noStrike">
              <a:solidFill>
                <a:srgbClr val="000000"/>
              </a:solidFill>
              <a:latin typeface="Arial"/>
            </a:endParaRPr>
          </a:p>
          <a:p>
            <a:pPr>
              <a:lnSpc>
                <a:spcPct val="100000"/>
              </a:lnSpc>
            </a:pPr>
            <a:r>
              <a:rPr b="0" lang="en-US" sz="2400" spc="-1" strike="noStrike">
                <a:solidFill>
                  <a:srgbClr val="52616b"/>
                </a:solidFill>
                <a:latin typeface="Aptos Display"/>
                <a:ea typeface="DejaVu Sans"/>
              </a:rPr>
              <a:t>R²-diag (higher=better) measures alignment of learned latents to true causal variables; R²-sep (lower=better) measures spurious correlations. Compared against iVAE, LEAP, and DMS.</a:t>
            </a:r>
            <a:endParaRPr b="0" lang="it-IT" sz="2400" spc="-1" strike="noStrike">
              <a:solidFill>
                <a:srgbClr val="000000"/>
              </a:solidFill>
              <a:latin typeface="Arial"/>
            </a:endParaRPr>
          </a:p>
          <a:p>
            <a:pPr>
              <a:lnSpc>
                <a:spcPct val="100000"/>
              </a:lnSpc>
            </a:pPr>
            <a:endParaRPr b="0" lang="it-IT" sz="2400" spc="-1" strike="noStrike">
              <a:solidFill>
                <a:srgbClr val="000000"/>
              </a:solidFill>
              <a:latin typeface="Arial"/>
            </a:endParaRPr>
          </a:p>
          <a:p>
            <a:pPr>
              <a:lnSpc>
                <a:spcPct val="100000"/>
              </a:lnSpc>
            </a:pPr>
            <a:r>
              <a:rPr b="1" lang="en-US" sz="2400" spc="-1" strike="noStrike">
                <a:solidFill>
                  <a:srgbClr val="1a7a9a"/>
                </a:solidFill>
                <a:latin typeface="Aptos Display"/>
                <a:ea typeface="DejaVu Sans"/>
              </a:rPr>
              <a:t>Results:</a:t>
            </a:r>
            <a:r>
              <a:rPr b="0" lang="en-US" sz="2400" spc="-1" strike="noStrike">
                <a:solidFill>
                  <a:srgbClr val="52616b"/>
                </a:solidFill>
                <a:latin typeface="Aptos Display"/>
                <a:ea typeface="DejaVu Sans"/>
              </a:rPr>
              <a:t> </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Display"/>
                <a:ea typeface="DejaVu Sans"/>
              </a:rPr>
              <a:t>1. Voronoi: </a:t>
            </a:r>
            <a:r>
              <a:rPr b="0" lang="en-US" sz="2400" spc="-1" strike="noStrike">
                <a:solidFill>
                  <a:srgbClr val="52616b"/>
                </a:solidFill>
                <a:latin typeface="Aptos Display"/>
                <a:ea typeface="DejaVu Sans"/>
              </a:rPr>
              <a:t>BISCUIT reliably recovers causal variables even with the minimum </a:t>
            </a:r>
            <a:r>
              <a:rPr b="0" lang="en-IN" sz="2400" spc="-1" strike="noStrike">
                <a:solidFill>
                  <a:srgbClr val="000000"/>
                </a:solidFill>
                <a:latin typeface="Aptos Display"/>
                <a:ea typeface="DejaVu Sans"/>
              </a:rPr>
              <a:t> </a:t>
            </a:r>
            <a:r>
              <a:rPr b="0" lang="en-US" sz="2400" spc="-1" strike="noStrike">
                <a:solidFill>
                  <a:srgbClr val="52616b"/>
                </a:solidFill>
                <a:latin typeface="Aptos Display"/>
                <a:ea typeface="DejaVu Sans"/>
              </a:rPr>
              <a:t>interaction regimes.</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a:ea typeface="DejaVu Sans"/>
              </a:rPr>
              <a:t>2. CausalWorld: </a:t>
            </a:r>
            <a:r>
              <a:rPr b="0" lang="en-US" sz="2400" spc="-1" strike="noStrike">
                <a:solidFill>
                  <a:srgbClr val="52616b"/>
                </a:solidFill>
                <a:latin typeface="Aptos"/>
                <a:ea typeface="DejaVu Sans"/>
              </a:rPr>
              <a:t>BISCUIT-NF does not only reconstruct the image, but also separates the main causal variables. It also learns to recognize whether a robot-cube collision occurs.</a:t>
            </a:r>
            <a:endParaRPr b="0" lang="it-IT" sz="2400" spc="-1" strike="noStrike">
              <a:solidFill>
                <a:srgbClr val="000000"/>
              </a:solidFill>
              <a:latin typeface="Arial"/>
            </a:endParaRPr>
          </a:p>
          <a:p>
            <a:pPr>
              <a:lnSpc>
                <a:spcPct val="100000"/>
              </a:lnSpc>
            </a:pPr>
            <a:r>
              <a:rPr b="1" lang="en-US" sz="2400" spc="-1" strike="noStrike">
                <a:solidFill>
                  <a:srgbClr val="52616b"/>
                </a:solidFill>
                <a:latin typeface="Aptos Display"/>
                <a:ea typeface="DejaVu Sans"/>
              </a:rPr>
              <a:t>3. iTHOR: </a:t>
            </a:r>
            <a:r>
              <a:rPr b="0" lang="en-US" sz="2400" spc="-1" strike="noStrike">
                <a:solidFill>
                  <a:srgbClr val="52616b"/>
                </a:solidFill>
                <a:latin typeface="Aptos Display"/>
                <a:ea typeface="DejaVu Sans"/>
              </a:rPr>
              <a:t>BISCUIT mainly struggles with egg and plate because they are highly correlated in the environment. However, it shows a modular representation, because it can combine latents from two images and generate new states, such as raw egg + stove on, generating a novel state.</a:t>
            </a:r>
            <a:endParaRPr b="0" lang="it-IT" sz="2400" spc="-1" strike="noStrike">
              <a:solidFill>
                <a:srgbClr val="000000"/>
              </a:solidFill>
              <a:latin typeface="Arial"/>
            </a:endParaRPr>
          </a:p>
          <a:p>
            <a:pPr>
              <a:lnSpc>
                <a:spcPct val="100000"/>
              </a:lnSpc>
            </a:pPr>
            <a:endParaRPr b="0" lang="it-IT" sz="2400" spc="-1" strike="noStrike">
              <a:solidFill>
                <a:srgbClr val="000000"/>
              </a:solidFill>
              <a:latin typeface="Arial"/>
            </a:endParaRPr>
          </a:p>
          <a:p>
            <a:pPr>
              <a:lnSpc>
                <a:spcPct val="100000"/>
              </a:lnSpc>
            </a:pPr>
            <a:endParaRPr b="0" lang="it-IT" sz="2400" spc="-1" strike="noStrike">
              <a:solidFill>
                <a:srgbClr val="000000"/>
              </a:solidFill>
              <a:latin typeface="Arial"/>
            </a:endParaRPr>
          </a:p>
          <a:p>
            <a:pPr>
              <a:lnSpc>
                <a:spcPct val="100000"/>
              </a:lnSpc>
            </a:pPr>
            <a:endParaRPr b="0" lang="it-IT" sz="2400" spc="-1" strike="noStrike">
              <a:solidFill>
                <a:srgbClr val="000000"/>
              </a:solidFill>
              <a:latin typeface="Arial"/>
            </a:endParaRPr>
          </a:p>
        </p:txBody>
      </p:sp>
      <p:sp>
        <p:nvSpPr>
          <p:cNvPr id="74" name="Text 37"/>
          <p:cNvSpPr/>
          <p:nvPr/>
        </p:nvSpPr>
        <p:spPr>
          <a:xfrm>
            <a:off x="15960960" y="25226640"/>
            <a:ext cx="12828240" cy="292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5b96"/>
                </a:solidFill>
                <a:latin typeface="Aptos"/>
                <a:ea typeface="DejaVu Sans"/>
              </a:rPr>
              <a:t>Assumptions &amp; Limitations:</a:t>
            </a:r>
            <a:r>
              <a:rPr b="0" lang="en-US" sz="1800" spc="-1" strike="noStrike">
                <a:solidFill>
                  <a:srgbClr val="52616b"/>
                </a:solidFill>
                <a:latin typeface="Aptos"/>
                <a:ea typeface="DejaVu Sans"/>
              </a:rPr>
              <a:t> The theory requires strictly binary interactions. Real-world agents often have graded, continuous, or multi-state effects. The distinct interaction pattern assumption (no two variables always co-activated) can be hard to guarantee in practice. The regime variable R𝑡 must be observable, which may not always hold.</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005b96"/>
                </a:solidFill>
                <a:latin typeface="Aptos"/>
                <a:ea typeface="DejaVu Sans"/>
              </a:rPr>
              <a:t>Responsible AI:</a:t>
            </a:r>
            <a:r>
              <a:rPr b="0" lang="en-US" sz="1800" spc="-1" strike="noStrike">
                <a:solidFill>
                  <a:srgbClr val="52616b"/>
                </a:solidFill>
                <a:latin typeface="Aptos"/>
                <a:ea typeface="DejaVu Sans"/>
              </a:rPr>
              <a:t> Causal representations learned without supervision could encode spurious correlates from biased training environments. Deploying such models in robotics or embodied AI requires careful auditing of what variables are learned and whether they reflect true causal structure.</a:t>
            </a:r>
            <a:endParaRPr b="0" lang="it-IT" sz="1800" spc="-1" strike="noStrike">
              <a:solidFill>
                <a:srgbClr val="000000"/>
              </a:solidFill>
              <a:latin typeface="Arial"/>
            </a:endParaRPr>
          </a:p>
          <a:p>
            <a:pPr>
              <a:lnSpc>
                <a:spcPct val="100000"/>
              </a:lnSpc>
            </a:pPr>
            <a:endParaRPr b="0" lang="it-IT" sz="1800" spc="-1" strike="noStrike">
              <a:solidFill>
                <a:srgbClr val="000000"/>
              </a:solidFill>
              <a:latin typeface="Arial"/>
            </a:endParaRPr>
          </a:p>
          <a:p>
            <a:pPr>
              <a:lnSpc>
                <a:spcPct val="100000"/>
              </a:lnSpc>
            </a:pPr>
            <a:r>
              <a:rPr b="1" lang="en-US" sz="1800" spc="-1" strike="noStrike">
                <a:solidFill>
                  <a:srgbClr val="005b96"/>
                </a:solidFill>
                <a:latin typeface="Aptos"/>
                <a:ea typeface="DejaVu Sans"/>
              </a:rPr>
              <a:t>Lessons learned:</a:t>
            </a:r>
            <a:r>
              <a:rPr b="0" lang="en-US" sz="1800" spc="-1" strike="noStrike">
                <a:solidFill>
                  <a:srgbClr val="52616b"/>
                </a:solidFill>
                <a:latin typeface="Aptos"/>
                <a:ea typeface="DejaVu Sans"/>
              </a:rPr>
              <a:t> Binary structure is a surprisingly powerful inductive bias — it breaks the rotational invariance that makes additive Gaussian noise models hard. Future work: extend to partial identifiability, sparse/continuous interactions, and longer temporal dependencies.</a:t>
            </a:r>
            <a:endParaRPr b="0" lang="it-IT" sz="1800" spc="-1" strike="noStrike">
              <a:solidFill>
                <a:srgbClr val="000000"/>
              </a:solidFill>
              <a:latin typeface="Arial"/>
            </a:endParaRPr>
          </a:p>
        </p:txBody>
      </p:sp>
      <p:pic>
        <p:nvPicPr>
          <p:cNvPr id="75" name="Picture 56" descr=""/>
          <p:cNvPicPr/>
          <p:nvPr/>
        </p:nvPicPr>
        <p:blipFill>
          <a:blip r:embed="rId4"/>
          <a:stretch/>
        </p:blipFill>
        <p:spPr>
          <a:xfrm>
            <a:off x="16075080" y="28748880"/>
            <a:ext cx="12714120" cy="9752760"/>
          </a:xfrm>
          <a:prstGeom prst="rect">
            <a:avLst/>
          </a:prstGeom>
          <a:ln w="0">
            <a:noFill/>
          </a:ln>
        </p:spPr>
      </p:pic>
      <p:sp>
        <p:nvSpPr>
          <p:cNvPr id="76" name="Text 42"/>
          <p:cNvSpPr/>
          <p:nvPr/>
        </p:nvSpPr>
        <p:spPr>
          <a:xfrm>
            <a:off x="1097280" y="41842800"/>
            <a:ext cx="28080360" cy="38340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0" lang="en-US" sz="1300" spc="-1" strike="noStrike">
                <a:solidFill>
                  <a:srgbClr val="ddedf7"/>
                </a:solidFill>
                <a:latin typeface="Aptos"/>
                <a:ea typeface="DejaVu Sans"/>
              </a:rPr>
              <a:t>Lippe P., Magliacane S., Löwe S., Asano Y.M., Cohen T., Gavves E. — BISCUIT: Causal Representation Learning from Binary Interactions. UAI 2023, PMLR 216:1263–1273.</a:t>
            </a:r>
            <a:endParaRPr b="0" lang="it-IT" sz="1300" spc="-1" strike="noStrike">
              <a:solidFill>
                <a:srgbClr val="000000"/>
              </a:solidFill>
              <a:latin typeface="Arial"/>
            </a:endParaRPr>
          </a:p>
        </p:txBody>
      </p:sp>
      <p:sp>
        <p:nvSpPr>
          <p:cNvPr id="77" name="Text 5"/>
          <p:cNvSpPr/>
          <p:nvPr/>
        </p:nvSpPr>
        <p:spPr>
          <a:xfrm>
            <a:off x="6066000" y="1200240"/>
            <a:ext cx="16549920" cy="1233720"/>
          </a:xfrm>
          <a:prstGeom prst="rect">
            <a:avLst/>
          </a:prstGeom>
          <a:noFill/>
          <a:ln w="0">
            <a:noFill/>
          </a:ln>
        </p:spPr>
        <p:style>
          <a:lnRef idx="0"/>
          <a:fillRef idx="0"/>
          <a:effectRef idx="0"/>
          <a:fontRef idx="minor"/>
        </p:style>
        <p:txBody>
          <a:bodyPr lIns="90000" rIns="90000" tIns="45000" bIns="45000" anchor="ctr">
            <a:normAutofit fontScale="47000"/>
          </a:bodyPr>
          <a:p>
            <a:pPr algn="ctr">
              <a:lnSpc>
                <a:spcPct val="100000"/>
              </a:lnSpc>
              <a:tabLst>
                <a:tab algn="l" pos="0"/>
              </a:tabLst>
            </a:pPr>
            <a:r>
              <a:rPr b="1" lang="en-US" sz="8000" spc="-1" strike="noStrike">
                <a:solidFill>
                  <a:srgbClr val="ffffff"/>
                </a:solidFill>
                <a:latin typeface="Aptos Display"/>
                <a:ea typeface="Aptos Display"/>
              </a:rPr>
              <a:t>BISCUIT: Causal Representation Learning from Binary Interactions</a:t>
            </a:r>
            <a:endParaRPr b="0" lang="it-IT" sz="8000" spc="-1" strike="noStrike">
              <a:solidFill>
                <a:srgbClr val="000000"/>
              </a:solidFill>
              <a:latin typeface="Arial"/>
            </a:endParaRPr>
          </a:p>
        </p:txBody>
      </p:sp>
      <p:pic>
        <p:nvPicPr>
          <p:cNvPr id="78" name="Immagine 9" descr=""/>
          <p:cNvPicPr/>
          <p:nvPr/>
        </p:nvPicPr>
        <p:blipFill>
          <a:blip r:embed="rId5"/>
          <a:stretch/>
        </p:blipFill>
        <p:spPr>
          <a:xfrm>
            <a:off x="7996680" y="35460000"/>
            <a:ext cx="6768000" cy="2570400"/>
          </a:xfrm>
          <a:prstGeom prst="rect">
            <a:avLst/>
          </a:prstGeom>
          <a:ln w="0">
            <a:noFill/>
          </a:ln>
        </p:spPr>
      </p:pic>
      <p:pic>
        <p:nvPicPr>
          <p:cNvPr id="79" name="Immagine 20" descr=""/>
          <p:cNvPicPr/>
          <p:nvPr/>
        </p:nvPicPr>
        <p:blipFill>
          <a:blip r:embed="rId6"/>
          <a:stretch/>
        </p:blipFill>
        <p:spPr>
          <a:xfrm>
            <a:off x="1620000" y="35196120"/>
            <a:ext cx="6376680" cy="2783880"/>
          </a:xfrm>
          <a:prstGeom prst="rect">
            <a:avLst/>
          </a:prstGeom>
          <a:ln w="0">
            <a:noFill/>
          </a:ln>
        </p:spPr>
      </p:pic>
      <p:pic>
        <p:nvPicPr>
          <p:cNvPr id="80" name="Immagine 24" descr=""/>
          <p:cNvPicPr/>
          <p:nvPr/>
        </p:nvPicPr>
        <p:blipFill>
          <a:blip r:embed="rId7"/>
          <a:stretch/>
        </p:blipFill>
        <p:spPr>
          <a:xfrm>
            <a:off x="8091360" y="32105520"/>
            <a:ext cx="6374160" cy="2610720"/>
          </a:xfrm>
          <a:prstGeom prst="rect">
            <a:avLst/>
          </a:prstGeom>
          <a:ln w="0">
            <a:noFill/>
          </a:ln>
        </p:spPr>
      </p:pic>
      <p:pic>
        <p:nvPicPr>
          <p:cNvPr id="81" name="Immagine 40" descr=""/>
          <p:cNvPicPr/>
          <p:nvPr/>
        </p:nvPicPr>
        <p:blipFill>
          <a:blip r:embed="rId8"/>
          <a:stretch/>
        </p:blipFill>
        <p:spPr>
          <a:xfrm>
            <a:off x="1454760" y="32105520"/>
            <a:ext cx="6635880" cy="2634480"/>
          </a:xfrm>
          <a:prstGeom prst="rect">
            <a:avLst/>
          </a:prstGeom>
          <a:ln w="0">
            <a:noFill/>
          </a:ln>
        </p:spPr>
      </p:pic>
      <p:sp>
        <p:nvSpPr>
          <p:cNvPr id="82" name="CasellaDiTesto 42"/>
          <p:cNvSpPr/>
          <p:nvPr/>
        </p:nvSpPr>
        <p:spPr>
          <a:xfrm>
            <a:off x="1454760" y="31406040"/>
            <a:ext cx="640404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chemeClr val="accent5">
                    <a:lumMod val="75000"/>
                  </a:schemeClr>
                </a:solidFill>
                <a:latin typeface="Aptos"/>
                <a:ea typeface="DejaVu Sans"/>
              </a:rPr>
              <a:t>Three environments with increasing complexity:</a:t>
            </a:r>
            <a:endParaRPr b="0" lang="it-IT" sz="2000" spc="-1" strike="noStrike">
              <a:solidFill>
                <a:srgbClr val="000000"/>
              </a:solidFill>
              <a:latin typeface="Arial"/>
            </a:endParaRPr>
          </a:p>
        </p:txBody>
      </p:sp>
      <p:sp>
        <p:nvSpPr>
          <p:cNvPr id="83" name="CasellaDiTesto 53"/>
          <p:cNvSpPr/>
          <p:nvPr/>
        </p:nvSpPr>
        <p:spPr>
          <a:xfrm>
            <a:off x="5005440" y="34740000"/>
            <a:ext cx="621252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chemeClr val="accent5">
                    <a:lumMod val="75000"/>
                  </a:schemeClr>
                </a:solidFill>
                <a:latin typeface="Aptos"/>
                <a:ea typeface="DejaVu Sans"/>
              </a:rPr>
              <a:t>R² scores for the identification of causal variables</a:t>
            </a:r>
            <a:endParaRPr b="0" lang="it-IT" sz="2000" spc="-1" strike="noStrike">
              <a:solidFill>
                <a:srgbClr val="000000"/>
              </a:solidFill>
              <a:latin typeface="Arial"/>
            </a:endParaRPr>
          </a:p>
        </p:txBody>
      </p:sp>
      <p:sp>
        <p:nvSpPr>
          <p:cNvPr id="84" name="CasellaDiTesto 55"/>
          <p:cNvSpPr/>
          <p:nvPr/>
        </p:nvSpPr>
        <p:spPr>
          <a:xfrm>
            <a:off x="8460000" y="31500000"/>
            <a:ext cx="640404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it-IT" sz="2000" spc="-1" strike="noStrike">
                <a:solidFill>
                  <a:schemeClr val="accent5">
                    <a:lumMod val="75000"/>
                  </a:schemeClr>
                </a:solidFill>
                <a:latin typeface="Aptos"/>
                <a:ea typeface="DejaVu Sans"/>
              </a:rPr>
              <a:t>Learned Interaction Variables</a:t>
            </a:r>
            <a:endParaRPr b="0" lang="it-IT" sz="2000" spc="-1" strike="noStrike">
              <a:solidFill>
                <a:srgbClr val="000000"/>
              </a:solidFill>
              <a:latin typeface="Arial"/>
            </a:endParaRPr>
          </a:p>
        </p:txBody>
      </p:sp>
      <p:sp>
        <p:nvSpPr>
          <p:cNvPr id="85" name="Rectangle 2"/>
          <p:cNvSpPr/>
          <p:nvPr/>
        </p:nvSpPr>
        <p:spPr>
          <a:xfrm>
            <a:off x="13585680" y="46440"/>
            <a:ext cx="3102480" cy="363600"/>
          </a:xfrm>
          <a:prstGeom prst="rect">
            <a:avLst/>
          </a:prstGeom>
          <a:noFill/>
          <a:ln w="0">
            <a:noFill/>
          </a:ln>
        </p:spPr>
        <p:style>
          <a:lnRef idx="0"/>
          <a:fillRef idx="0"/>
          <a:effectRef idx="0"/>
          <a:fontRef idx="minor"/>
        </p:style>
        <p:txBody>
          <a:bodyPr numCol="1" spcCol="0" wrap="none" lIns="90000" rIns="90000" tIns="45000" bIns="45000" anchor="ctr">
            <a:spAutoFit/>
          </a:bodyPr>
          <a:p>
            <a:pPr>
              <a:lnSpc>
                <a:spcPct val="100000"/>
              </a:lnSpc>
              <a:tabLst>
                <a:tab algn="l" pos="0"/>
              </a:tabLst>
            </a:pPr>
            <a:r>
              <a:rPr b="1" lang="it-IT" sz="1800" spc="-1" strike="noStrike">
                <a:solidFill>
                  <a:srgbClr val="000000"/>
                </a:solidFill>
                <a:latin typeface="Arial"/>
                <a:ea typeface="DejaVu Sans"/>
              </a:rPr>
              <a:t>Latent Space Interventions</a:t>
            </a:r>
            <a:endParaRPr b="0" lang="it-IT" sz="1800" spc="-1" strike="noStrike">
              <a:solidFill>
                <a:srgbClr val="000000"/>
              </a:solidFill>
              <a:latin typeface="Arial"/>
            </a:endParaRPr>
          </a:p>
        </p:txBody>
      </p:sp>
      <p:pic>
        <p:nvPicPr>
          <p:cNvPr id="86" name="Immagine 63" descr=""/>
          <p:cNvPicPr/>
          <p:nvPr/>
        </p:nvPicPr>
        <p:blipFill>
          <a:blip r:embed="rId9"/>
          <a:stretch/>
        </p:blipFill>
        <p:spPr>
          <a:xfrm>
            <a:off x="1555920" y="38117880"/>
            <a:ext cx="12844080" cy="1122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135</TotalTime>
  <Application>LibreOffice/7.5.0.3$Windows_X86_64 LibreOffice_project/c21113d003cd3efa8c53188764377a8272d9d6de</Application>
  <AppVersion>15.0000</AppVersion>
  <Words>749</Words>
  <Paragraphs>41</Paragraphs>
  <Company>University of Pisa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2026-05-14T15:30:59Z</dcterms:created>
  <dc:creator>OpenAI</dc:creator>
  <dc:description/>
  <dc:language>it-IT</dc:language>
  <cp:lastModifiedBy/>
  <dcterms:modified xsi:type="dcterms:W3CDTF">2026-05-24T17:10:38Z</dcterms:modified>
  <cp:revision>9</cp:revision>
  <dc:subject>A0 portrait poster template for Generative and Deep Learning Course - University of Pisa</dc:subject>
  <dc:title>A0 Poster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Personalizzato</vt:lpwstr>
  </property>
  <property fmtid="{D5CDD505-2E9C-101B-9397-08002B2CF9AE}" pid="4" name="Slides">
    <vt:i4>1</vt:i4>
  </property>
</Properties>
</file>